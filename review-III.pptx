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9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4.xml" ContentType="application/vnd.openxmlformats-officedocument.theme+xml"/>
  <Override PartName="/ppt/theme/theme20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4" r:id="rId4"/>
    <p:sldMasterId id="2147483667" r:id="rId5"/>
    <p:sldMasterId id="2147483669" r:id="rId6"/>
    <p:sldMasterId id="214748367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5.xml"/><Relationship Id="rId5" Type="http://schemas.openxmlformats.org/officeDocument/2006/relationships/slideMaster" Target="slideMasters/slideMaster17.xml"/><Relationship Id="rId6" Type="http://schemas.openxmlformats.org/officeDocument/2006/relationships/slideMaster" Target="slideMasters/slideMaster18.xml"/><Relationship Id="rId7" Type="http://schemas.openxmlformats.org/officeDocument/2006/relationships/slideMaster" Target="slideMasters/slideMaster19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 type="dt" idx="58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PlaceHolder 5"/>
          <p:cNvSpPr>
            <a:spLocks noGrp="1"/>
          </p:cNvSpPr>
          <p:nvPr>
            <p:ph type="ftr" idx="59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PlaceHolder 6"/>
          <p:cNvSpPr>
            <a:spLocks noGrp="1"/>
          </p:cNvSpPr>
          <p:nvPr>
            <p:ph type="sldNum" idx="60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870251D-6900-45DF-9A55-42383771B08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B33D7D9-2398-468D-93E9-44CFE19568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956160"/>
            <a:ext cx="85953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B746963-2C5D-4A66-B3D3-F52862B1A4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3080" cy="127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2240" cy="552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3080" cy="25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766C2CF-762B-4E43-B40F-EA8C8235182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49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50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1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53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5360" cy="38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5360" cy="67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D125BD1-3EAB-40AB-9626-EBF28946C42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66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67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68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340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360" cy="156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DCC25F4-984F-4FAA-A25D-516255B7759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82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83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84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2800" cy="302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3040" cy="37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360" cy="156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F8B42C5-562A-4082-BBBE-3D3C11EC17B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Box 19"/>
          <p:cNvSpPr/>
          <p:nvPr/>
        </p:nvSpPr>
        <p:spPr>
          <a:xfrm>
            <a:off x="541800" y="79020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1"/>
          <p:cNvSpPr/>
          <p:nvPr/>
        </p:nvSpPr>
        <p:spPr>
          <a:xfrm>
            <a:off x="8893080" y="288648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01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02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03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5360" cy="259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151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68865B8-7E0B-420D-87C1-63BD1659C9A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17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18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19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2800" cy="302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360" cy="5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151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EC2B4F1-3C08-4789-A444-306AAE42ECB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Box 23"/>
          <p:cNvSpPr/>
          <p:nvPr/>
        </p:nvSpPr>
        <p:spPr>
          <a:xfrm>
            <a:off x="541800" y="79020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4"/>
          <p:cNvSpPr/>
          <p:nvPr/>
        </p:nvSpPr>
        <p:spPr>
          <a:xfrm>
            <a:off x="8893080" y="288648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36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37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38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6720" cy="302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360" cy="5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151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AC8D9FD-76E8-4B3D-AAF7-BD350E263EE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53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4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55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41A11E7-8D0F-41B1-864A-A7CFFF9830D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69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70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71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3200" cy="52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8880" cy="52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181FB2D-52C5-4FA0-B3C0-9347ADC6B96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85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86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87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5360" cy="18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85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FD2767-5F19-4878-AD73-B020EFADBFD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01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02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03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2480" cy="38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2480" cy="38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FDEE8BA-C745-4291-9935-D6E1BDD3245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18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19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20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4280" cy="5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4280" cy="330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4280" cy="5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4280" cy="330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8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08A8891-9DAE-43BD-B0CD-B0BDE7DA93F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37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38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39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05FF6F6-64B2-447E-9031-AA637E934BC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4A8E1F-C079-4394-9444-D1EC24A74B2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68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69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70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8" name="PlaceHolder 1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28519A-C106-431E-A0C2-EFDB7CE2B18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77160" y="956160"/>
            <a:ext cx="85953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0A16D433-6E78-46F4-BAC7-7730261169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77160" y="956160"/>
            <a:ext cx="85953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884218E0-281B-4A6B-B62F-5D294E6764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77160" y="956160"/>
            <a:ext cx="85953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7D467EBD-0622-4001-AB80-E6F8C63E6D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677160" y="956160"/>
            <a:ext cx="85953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159E563C-93CF-4618-A692-F126AD12E3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77160" y="956160"/>
            <a:ext cx="85953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49C71BDC-FF1F-4EE4-AEEA-DF78747D98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1440" y="-8640"/>
            <a:ext cx="12189240" cy="6867720"/>
            <a:chOff x="1440" y="-8640"/>
            <a:chExt cx="12189240" cy="686772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1440" y="1440"/>
              <a:ext cx="841320" cy="56646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446040"/>
            <a:ext cx="85953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AC22BC5-B11A-4CCE-BA4A-B8F67839D5B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84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85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86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77160" y="994320"/>
            <a:ext cx="859536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ftr" idx="49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50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BD7A5A1-04D2-46E7-AC5C-2869E76A36D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dt" idx="51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01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02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03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677160" y="994320"/>
            <a:ext cx="859536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ftr" idx="52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53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27E1330-587A-4AD7-848C-2D8B9368D56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dt" idx="54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18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19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20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77160" y="994320"/>
            <a:ext cx="859536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ftr" idx="55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sldNum" idx="56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35AB362-248F-4B58-98D7-0D7811ABBE7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dt" idx="57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  <p:sldLayoutId id="2147483673" r:id="rId3"/>
    <p:sldLayoutId id="2147483674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2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1449720" y="457200"/>
            <a:ext cx="7693200" cy="102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77500" lnSpcReduction="19999"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A Cloud-Based Data Leakage</a:t>
            </a:r>
            <a:br>
              <a:rPr sz="3200"/>
            </a:b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Prevention System Using Rule-Based</a:t>
            </a:r>
            <a:br>
              <a:rPr sz="3200"/>
            </a:b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Content Inspection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subTitle"/>
          </p:nvPr>
        </p:nvSpPr>
        <p:spPr>
          <a:xfrm>
            <a:off x="2539080" y="2286000"/>
            <a:ext cx="5689440" cy="28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TEAM MEMBERS 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SABARIRAJA. S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( 620822205090 )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RANJITH. P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( 620822205084 )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SHANTHOSH. M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( 620822205098 )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ROHITH. V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( 620822205088 )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GUIDE : Ms. JAYANTHI. R, AP/IT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90360" y="228600"/>
            <a:ext cx="8595360" cy="68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547560" y="1017720"/>
            <a:ext cx="8595360" cy="56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Design a lightweight Cloud DLP gateway: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Inspect files before they are stored and block uploads that violate security policies.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 configurable DLP policies: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Regex‑based rules for emails, phone numbers, passwords, and sensitive patterns.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 and protect allowed content: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 allowed files at rest and store integrity hashes to detect tampering.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Offer full audit visibility: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Persist all upload attempts (ALLOWED / BLOCKED / ERROR) in an exportable audit log.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Expose a clean, user‑friendly web dashboard: Simple upload flow              for users; clear stats, assets, and logs for admins.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202320" y="0"/>
            <a:ext cx="825480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685800" y="955440"/>
            <a:ext cx="8080920" cy="178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Manual or ad‑hoc checks: Security teams review data after upload (if at all). Reliant on user awareness.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Complex enterprise DLP suites: Heavyweight, complicated to configure and deploy. Overkill for smaller organizations or     indiviuals.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Content Placeholder 5"/>
          <p:cNvSpPr/>
          <p:nvPr/>
        </p:nvSpPr>
        <p:spPr>
          <a:xfrm>
            <a:off x="685800" y="4215960"/>
            <a:ext cx="8080920" cy="24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transparency: Users and admins cannot easily see which uploads were blocked and why, or view currently stored assets.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Integrity monitoring gaps: Stored files can be updated or corrupted without straightforward integrity checks.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Result: Increased risk of accidental data leakage and difficulty demonstrating DLP behavior in PoC settings.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3"/>
          <p:cNvSpPr/>
          <p:nvPr/>
        </p:nvSpPr>
        <p:spPr>
          <a:xfrm>
            <a:off x="228600" y="3240360"/>
            <a:ext cx="3500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3560" y="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ectangle 4"/>
          <p:cNvSpPr/>
          <p:nvPr/>
        </p:nvSpPr>
        <p:spPr>
          <a:xfrm>
            <a:off x="184680" y="3429000"/>
            <a:ext cx="3121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Content Placeholder 6"/>
          <p:cNvSpPr/>
          <p:nvPr/>
        </p:nvSpPr>
        <p:spPr>
          <a:xfrm>
            <a:off x="558000" y="857880"/>
            <a:ext cx="8080920" cy="23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Rule‑based upload gateway: FastAPI backend receives file uploads and applies regex‑based DLP policies before writing to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Encrypted storage with integrity: Allowed files are encrypted (Fernet) and stored locally. SHA‑256 hashes of encrypted blobs are stored for verification.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Structured audit logging: Every attempt is logged in SQLite with reason and timestamp.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Content Placeholder 7"/>
          <p:cNvSpPr/>
          <p:nvPr/>
        </p:nvSpPr>
        <p:spPr>
          <a:xfrm>
            <a:off x="605880" y="4115880"/>
            <a:ext cx="8080920" cy="25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Simple web dashboard: Users upload via a responsive UI; admins view stats, assets, and live audit logs.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Transparency &amp; verifiability: Clear reasons for blocked uploads. Verify endpoint checks that stored files match recorded hashes.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Lightweight and extensible: Easy to plug in more policies, real cloud storage (e.g. S3/MinIO), and authentication later.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203400" y="152280"/>
            <a:ext cx="10311120" cy="98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8" name=""/>
          <p:cNvPicPr/>
          <p:nvPr/>
        </p:nvPicPr>
        <p:blipFill>
          <a:blip r:embed="rId1"/>
          <a:stretch/>
        </p:blipFill>
        <p:spPr>
          <a:xfrm>
            <a:off x="914400" y="1048320"/>
            <a:ext cx="8028360" cy="5351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799992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90360" y="64800"/>
            <a:ext cx="8595360" cy="61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4"/>
          <p:cNvSpPr/>
          <p:nvPr/>
        </p:nvSpPr>
        <p:spPr>
          <a:xfrm>
            <a:off x="275760" y="3599280"/>
            <a:ext cx="3030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Content Placeholder 9"/>
          <p:cNvSpPr/>
          <p:nvPr/>
        </p:nvSpPr>
        <p:spPr>
          <a:xfrm>
            <a:off x="677520" y="1148760"/>
            <a:ext cx="8595360" cy="38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1: Rule-Based Content Inspection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2: Cryptographic Hashing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3: Secure Violation Logging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4: User-Defined Security Policies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Module 5: Performance  &amp; Cloud Integration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282600" y="156240"/>
            <a:ext cx="11146320" cy="5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Module 1: Rule‑Based Content Inspection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360" cy="520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Inspect file contents before upload to detect sensitive information (PII, credentials, etc.).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 Idea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 regex‑based rules on decoded text to flag patterns such as: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Email addresses, phone numbers, passwords / secrets, IDs.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Backend receives file → decodes bytes to text → calls DLPDetector.scan(text).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For each rule in policies.json, if regex matches, rule name is added to findings.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If findings is non‑empty, the upload is BLOCKED and never written to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Benefits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Transparent and explainable: rules live in a simple JSON 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Easy to extend with new patterns without changing core 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1200320" cy="5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2: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Cryptographic Hashing 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360" cy="520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 that stored (encrypted) files are not silently modified or corrupted.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 Idea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 each allowed file and compute a SHA‑256 hash of the encrypted blob.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Why hash the encrypted data?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Integrity is verified on the exact bytes stored on disk.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Any change to the encrypted file (bit‑flip, truncation, replacement) changes the hash.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Where it fits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Runs only after a file passes DLP inspection.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Connects upload logic with the integrity verification endpoint.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120" cy="5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3: Secure Violation Logging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360" cy="520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Maintain a reliable audit trail for every upload attempt and its outcome.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 Idea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Store structured log entries in SQLite with: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Filename, status (ALLOWED / BLOCKED / ERROR), reason, timestamp.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When it runs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On every /upload code path: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Size or type failure.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DLP violation.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Successful encrypted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Internal errors (scan/storage issues).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120" cy="5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4: User-Defined Security Policies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360" cy="520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Enables administrators to define and manage custom DLP detection rules.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Dynamic rule loading from policies.json without service restart.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Supports regex patterns for any sensitive data type: PAN, Aadhaar, custom IDs.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Each policy has: name, pattern (regex), severity level, and enabled flag.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Admin CRUD interface for adding, modifying, and disabling rules at runtime.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Hot-reload endpoint triggers immediate policy refresh in DLP engine.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Per-user policy overrides stored in database for personalized DLP profiles.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audit log tracks all changes with timestamp and admin identity.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120" cy="5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4: Implementation Details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360" cy="520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Configuration (policies.json):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Each entry: { "name": "email", "pattern": "regex", "severity": "high", "enabled": true }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	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Loaded at startup and on POST /admin/policies/reload.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Backend API Endpoints: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GET /admin/policies — list all active rules with metadata.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POST /admin/policies — add a new rule (name, pattern, severity).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PUT /admin/policies/{name} — update existing rule pattern or toggle enable.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DELETE /admin/policies/{name} — remove a rule from active policy set.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DLPDetector Integration: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DLPDetector.reload() re-reads policies.json and recompiles regex patterns.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LRU cache on compiled patterns ensures no redundant re-compilation.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Invalid regex patterns rejected with descriptive error at creation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120" cy="5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5: Performance &amp; Cloud Integration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360" cy="520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Optimizes DLP inspection pipeline for large and concurrent file uploads.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Async upload handling using background task queue reduces response latency.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Streaming file processing with chunked reading reduces peak memory usage.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Integration with cloud storage backends: S3, MinIO, and Azure Blob adapter.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LRU cache for compiled regex patterns avoids redundant re-compilation.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Connection pooling for SQLite/PostgreSQL database operations.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Horizontal scaling support: DLP engine stateless; storage backend swappable.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Performance dashboard: throughput, average scan time, block rate metrics.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120" cy="5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5: Implementation Details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360" cy="520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Async Processing: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FastAPI Background Tasks used for non-blocking upload logging.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Large files processed as streams: read in 64KB chunks to DLP scanner.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Regex matching applied per-chunk to avoid full file load into memory.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Cloud Storage Adapter: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Adapter pattern: Storage Backend interface with LocalDisk, S3, MinIO implementations.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S3 integration via boto3: upload_fileobj() streams encrypted bytes directly.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MinIO used for self-hosted S3-compatible storage in development.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Optimization Techniques: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functools.lru_cache wraps compiled regex objects — cache hit avoids re-compile.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SQL Alchemy connection pool (pool_size=10) handles concurrent log writes.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Prometheus metrics endpoint: /metrics exposes scan latency histograms.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120" cy="5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Screenshot: Source code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8" name=""/>
          <p:cNvPicPr/>
          <p:nvPr/>
        </p:nvPicPr>
        <p:blipFill>
          <a:blip r:embed="rId1"/>
          <a:stretch/>
        </p:blipFill>
        <p:spPr>
          <a:xfrm>
            <a:off x="457200" y="1143000"/>
            <a:ext cx="4114800" cy="251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9" name=""/>
          <p:cNvPicPr/>
          <p:nvPr/>
        </p:nvPicPr>
        <p:blipFill>
          <a:blip r:embed="rId2"/>
          <a:stretch/>
        </p:blipFill>
        <p:spPr>
          <a:xfrm>
            <a:off x="4800600" y="1149480"/>
            <a:ext cx="4114800" cy="250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0" name=""/>
          <p:cNvPicPr/>
          <p:nvPr/>
        </p:nvPicPr>
        <p:blipFill>
          <a:blip r:embed="rId3"/>
          <a:stretch/>
        </p:blipFill>
        <p:spPr>
          <a:xfrm>
            <a:off x="441360" y="3886200"/>
            <a:ext cx="4130640" cy="274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1" name=""/>
          <p:cNvPicPr/>
          <p:nvPr/>
        </p:nvPicPr>
        <p:blipFill>
          <a:blip r:embed="rId4"/>
          <a:stretch/>
        </p:blipFill>
        <p:spPr>
          <a:xfrm>
            <a:off x="4800600" y="3853080"/>
            <a:ext cx="4114800" cy="277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120" cy="5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Screenshot: UI</a:t>
            </a:r>
            <a:br>
              <a:rPr sz="3600"/>
            </a:br>
            <a:br>
              <a:rPr sz="3600"/>
            </a:b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"/>
          <p:cNvPicPr/>
          <p:nvPr/>
        </p:nvPicPr>
        <p:blipFill>
          <a:blip r:embed="rId1"/>
          <a:stretch/>
        </p:blipFill>
        <p:spPr>
          <a:xfrm>
            <a:off x="458280" y="3886200"/>
            <a:ext cx="4342320" cy="279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4" name=""/>
          <p:cNvPicPr/>
          <p:nvPr/>
        </p:nvPicPr>
        <p:blipFill>
          <a:blip r:embed="rId2"/>
          <a:stretch/>
        </p:blipFill>
        <p:spPr>
          <a:xfrm>
            <a:off x="5029200" y="1143720"/>
            <a:ext cx="4343400" cy="251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5" name=""/>
          <p:cNvPicPr/>
          <p:nvPr/>
        </p:nvPicPr>
        <p:blipFill>
          <a:blip r:embed="rId3"/>
          <a:stretch/>
        </p:blipFill>
        <p:spPr>
          <a:xfrm>
            <a:off x="5029200" y="3886200"/>
            <a:ext cx="4342680" cy="274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"/>
          <p:cNvPicPr/>
          <p:nvPr/>
        </p:nvPicPr>
        <p:blipFill>
          <a:blip r:embed="rId4"/>
          <a:stretch/>
        </p:blipFill>
        <p:spPr>
          <a:xfrm>
            <a:off x="457200" y="1143000"/>
            <a:ext cx="4343400" cy="251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5360" cy="75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667080" y="914400"/>
            <a:ext cx="8595360" cy="457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Summary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Cloud DLP gateway that inspects, encrypts, and logs file uploads for cloud environments.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Benefits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Prevents many accidental leaks before data even reaches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Provides clear, human‑readable reasons for blocked uploads.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Ensures stored files are encrypted and integrity‑checked.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Offers a transparent, searchable audit trail and simple UI.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Outcome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 solid foundation to extend into a production‑grade DLP solution with richer policies, real cloud backends, and access control.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Cloud Callout 3"/>
          <p:cNvSpPr/>
          <p:nvPr/>
        </p:nvSpPr>
        <p:spPr>
          <a:xfrm>
            <a:off x="2986560" y="5355360"/>
            <a:ext cx="4658040" cy="127296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1"/>
          </a:solidFill>
          <a:ln cap="rnd">
            <a:solidFill>
              <a:srgbClr val="6A8F1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1307</TotalTime>
  <Application>LibreOffice/26.2.1.2$Linux_X86_64 LibreOffice_project/620$Build-2</Application>
  <AppVersion>15.0000</AppVersion>
  <Words>40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2026-04-05T15:25:54Z</dcterms:modified>
  <cp:revision>15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